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2"/>
    <p:sldId id="291" r:id="rId3"/>
    <p:sldId id="294" r:id="rId4"/>
    <p:sldId id="333" r:id="rId5"/>
    <p:sldId id="338" r:id="rId6"/>
    <p:sldId id="346" r:id="rId7"/>
    <p:sldId id="342" r:id="rId8"/>
    <p:sldId id="335" r:id="rId9"/>
    <p:sldId id="336" r:id="rId10"/>
    <p:sldId id="340" r:id="rId11"/>
    <p:sldId id="337" r:id="rId12"/>
    <p:sldId id="339" r:id="rId13"/>
    <p:sldId id="341" r:id="rId14"/>
    <p:sldId id="303" r:id="rId15"/>
    <p:sldId id="345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howGuides="1">
      <p:cViewPr varScale="1">
        <p:scale>
          <a:sx n="65" d="100"/>
          <a:sy n="65" d="100"/>
        </p:scale>
        <p:origin x="724" y="56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2024-07-21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840992-A2F5-42B7-8FDA-0C4D99C832CD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4552" y="6537029"/>
            <a:ext cx="911510" cy="204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18" Type="http://schemas.openxmlformats.org/officeDocument/2006/relationships/image" Target="../media/image31.png"/><Relationship Id="rId3" Type="http://schemas.openxmlformats.org/officeDocument/2006/relationships/image" Target="../media/image3.svg"/><Relationship Id="rId21" Type="http://schemas.openxmlformats.org/officeDocument/2006/relationships/image" Target="../media/image34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17" Type="http://schemas.openxmlformats.org/officeDocument/2006/relationships/image" Target="../media/image30.svg"/><Relationship Id="rId2" Type="http://schemas.openxmlformats.org/officeDocument/2006/relationships/image" Target="../media/image2.png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19" Type="http://schemas.openxmlformats.org/officeDocument/2006/relationships/image" Target="../media/image32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13" Type="http://schemas.openxmlformats.org/officeDocument/2006/relationships/image" Target="../media/image46.png"/><Relationship Id="rId18" Type="http://schemas.openxmlformats.org/officeDocument/2006/relationships/image" Target="../media/image3.svg"/><Relationship Id="rId3" Type="http://schemas.openxmlformats.org/officeDocument/2006/relationships/image" Target="../media/image36.svg"/><Relationship Id="rId7" Type="http://schemas.openxmlformats.org/officeDocument/2006/relationships/image" Target="../media/image40.png"/><Relationship Id="rId12" Type="http://schemas.openxmlformats.org/officeDocument/2006/relationships/image" Target="../media/image45.svg"/><Relationship Id="rId17" Type="http://schemas.openxmlformats.org/officeDocument/2006/relationships/image" Target="../media/image2.png"/><Relationship Id="rId2" Type="http://schemas.openxmlformats.org/officeDocument/2006/relationships/image" Target="../media/image35.png"/><Relationship Id="rId16" Type="http://schemas.openxmlformats.org/officeDocument/2006/relationships/image" Target="../media/image49.svg"/><Relationship Id="rId20" Type="http://schemas.openxmlformats.org/officeDocument/2006/relationships/image" Target="../media/image51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sv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svg"/><Relationship Id="rId19" Type="http://schemas.openxmlformats.org/officeDocument/2006/relationships/image" Target="../media/image50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svg"/><Relationship Id="rId18" Type="http://schemas.openxmlformats.org/officeDocument/2006/relationships/image" Target="../media/image37.png"/><Relationship Id="rId3" Type="http://schemas.openxmlformats.org/officeDocument/2006/relationships/image" Target="../media/image36.svg"/><Relationship Id="rId7" Type="http://schemas.openxmlformats.org/officeDocument/2006/relationships/image" Target="../media/image53.svg"/><Relationship Id="rId12" Type="http://schemas.openxmlformats.org/officeDocument/2006/relationships/image" Target="../media/image58.png"/><Relationship Id="rId17" Type="http://schemas.openxmlformats.org/officeDocument/2006/relationships/image" Target="../media/image61.svg"/><Relationship Id="rId2" Type="http://schemas.openxmlformats.org/officeDocument/2006/relationships/image" Target="../media/image35.png"/><Relationship Id="rId16" Type="http://schemas.openxmlformats.org/officeDocument/2006/relationships/image" Target="../media/image60.png"/><Relationship Id="rId20" Type="http://schemas.openxmlformats.org/officeDocument/2006/relationships/image" Target="../media/image63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png"/><Relationship Id="rId11" Type="http://schemas.openxmlformats.org/officeDocument/2006/relationships/image" Target="../media/image57.svg"/><Relationship Id="rId5" Type="http://schemas.openxmlformats.org/officeDocument/2006/relationships/image" Target="../media/image39.svg"/><Relationship Id="rId15" Type="http://schemas.openxmlformats.org/officeDocument/2006/relationships/image" Target="../media/image41.svg"/><Relationship Id="rId10" Type="http://schemas.openxmlformats.org/officeDocument/2006/relationships/image" Target="../media/image56.png"/><Relationship Id="rId19" Type="http://schemas.openxmlformats.org/officeDocument/2006/relationships/image" Target="../media/image62.png"/><Relationship Id="rId4" Type="http://schemas.openxmlformats.org/officeDocument/2006/relationships/image" Target="../media/image38.png"/><Relationship Id="rId9" Type="http://schemas.openxmlformats.org/officeDocument/2006/relationships/image" Target="../media/image55.svg"/><Relationship Id="rId1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38.png"/><Relationship Id="rId7" Type="http://schemas.openxmlformats.org/officeDocument/2006/relationships/image" Target="../media/image2.png"/><Relationship Id="rId12" Type="http://schemas.openxmlformats.org/officeDocument/2006/relationships/image" Target="../media/image67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svg"/><Relationship Id="rId11" Type="http://schemas.openxmlformats.org/officeDocument/2006/relationships/image" Target="../media/image66.png"/><Relationship Id="rId5" Type="http://schemas.openxmlformats.org/officeDocument/2006/relationships/image" Target="../media/image48.png"/><Relationship Id="rId10" Type="http://schemas.openxmlformats.org/officeDocument/2006/relationships/image" Target="../media/image65.png"/><Relationship Id="rId4" Type="http://schemas.openxmlformats.org/officeDocument/2006/relationships/image" Target="../media/image39.svg"/><Relationship Id="rId9" Type="http://schemas.openxmlformats.org/officeDocument/2006/relationships/image" Target="../media/image6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8.jpg"/><Relationship Id="rId4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69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7.png"/><Relationship Id="rId7" Type="http://schemas.openxmlformats.org/officeDocument/2006/relationships/image" Target="../media/image41.sv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3.svg"/><Relationship Id="rId5" Type="http://schemas.openxmlformats.org/officeDocument/2006/relationships/image" Target="../media/image39.svg"/><Relationship Id="rId10" Type="http://schemas.openxmlformats.org/officeDocument/2006/relationships/image" Target="../media/image2.png"/><Relationship Id="rId4" Type="http://schemas.openxmlformats.org/officeDocument/2006/relationships/image" Target="../media/image38.png"/><Relationship Id="rId9" Type="http://schemas.openxmlformats.org/officeDocument/2006/relationships/image" Target="../media/image49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13" Type="http://schemas.openxmlformats.org/officeDocument/2006/relationships/image" Target="../media/image73.pn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12" Type="http://schemas.openxmlformats.org/officeDocument/2006/relationships/image" Target="../media/image72.png"/><Relationship Id="rId2" Type="http://schemas.openxmlformats.org/officeDocument/2006/relationships/image" Target="../media/image37.png"/><Relationship Id="rId16" Type="http://schemas.openxmlformats.org/officeDocument/2006/relationships/image" Target="../media/image7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1.png"/><Relationship Id="rId5" Type="http://schemas.openxmlformats.org/officeDocument/2006/relationships/image" Target="../media/image40.png"/><Relationship Id="rId15" Type="http://schemas.openxmlformats.org/officeDocument/2006/relationships/image" Target="../media/image75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Relationship Id="rId14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38.png"/><Relationship Id="rId7" Type="http://schemas.openxmlformats.org/officeDocument/2006/relationships/image" Target="../media/image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10" Type="http://schemas.openxmlformats.org/officeDocument/2006/relationships/image" Target="../media/image77.png"/><Relationship Id="rId4" Type="http://schemas.openxmlformats.org/officeDocument/2006/relationships/image" Target="../media/image39.svg"/><Relationship Id="rId9" Type="http://schemas.openxmlformats.org/officeDocument/2006/relationships/image" Target="../media/image7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8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9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4367809" y="1370504"/>
            <a:ext cx="7115886" cy="1177898"/>
            <a:chOff x="6747213" y="1370504"/>
            <a:chExt cx="4736481" cy="117789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8" y="1370504"/>
              <a:ext cx="2948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한국정보교육원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213" y="1809738"/>
              <a:ext cx="4736481" cy="738664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벽돌 깨기 웹게임 개발</a:t>
              </a:r>
              <a:endParaRPr lang="ko-KR" altLang="en-US" sz="4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1662" t="1" b="17379"/>
          <a:stretch/>
        </p:blipFill>
        <p:spPr>
          <a:xfrm>
            <a:off x="0" y="1216705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47213" y="3882051"/>
            <a:ext cx="5236249" cy="1641298"/>
            <a:chOff x="6768048" y="3882051"/>
            <a:chExt cx="5236249" cy="1641298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795944" y="4036068"/>
              <a:ext cx="5158567" cy="956159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TEAM 6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김김이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김경훈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이은비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김규택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65ADEEF-A1EB-4A5E-B31D-2DD09939039D}"/>
                </a:ext>
              </a:extLst>
            </p:cNvPr>
            <p:cNvSpPr txBox="1"/>
            <p:nvPr/>
          </p:nvSpPr>
          <p:spPr>
            <a:xfrm>
              <a:off x="6845730" y="5121188"/>
              <a:ext cx="5158567" cy="40216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]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김경훈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819A9C1C-0662-4499-B8DE-51A372C7FDBA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110" y="6248042"/>
            <a:ext cx="1793952" cy="402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24" y="38772"/>
            <a:ext cx="12192000" cy="6858000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56700" cy="1269295"/>
            <a:chOff x="870882" y="519237"/>
            <a:chExt cx="2256700" cy="12692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75370" y="957535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4633979" cy="584775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7716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9" y="3175385"/>
            <a:ext cx="3976700" cy="584775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185695" cy="584775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구현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&amp;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순서도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843845" cy="584775"/>
            <a:chOff x="6242109" y="4773997"/>
            <a:chExt cx="3078371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6835591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구현결과 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D4F9075C-D4C7-7F93-57EC-6830D7E34E16}"/>
              </a:ext>
            </a:extLst>
          </p:cNvPr>
          <p:cNvGrpSpPr/>
          <p:nvPr/>
        </p:nvGrpSpPr>
        <p:grpSpPr>
          <a:xfrm>
            <a:off x="6242109" y="5615834"/>
            <a:ext cx="3843845" cy="584775"/>
            <a:chOff x="6242109" y="4773997"/>
            <a:chExt cx="3078371" cy="58477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4DA8AF-5EB8-CBD9-5983-C057D21C0990}"/>
                </a:ext>
              </a:extLst>
            </p:cNvPr>
            <p:cNvSpPr txBox="1"/>
            <p:nvPr/>
          </p:nvSpPr>
          <p:spPr>
            <a:xfrm>
              <a:off x="6835591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시연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7B4B417-EA31-7C28-93D1-7845B1200A9A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래픽 16">
            <a:extLst>
              <a:ext uri="{FF2B5EF4-FFF2-40B4-BE49-F238E27FC236}">
                <a16:creationId xmlns:a16="http://schemas.microsoft.com/office/drawing/2014/main" id="{5D7D92DC-AA5F-DB8A-4577-CE6DDC763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1" y="2921071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4" y="5199830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2" y="4659684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72483" y="1997405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2" y="2070157"/>
            <a:ext cx="2122307" cy="3863473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47BD1-FC8C-AF26-C281-E98B0339386D}"/>
                </a:ext>
              </a:extLst>
            </p:cNvPr>
            <p:cNvSpPr txBox="1"/>
            <p:nvPr/>
          </p:nvSpPr>
          <p:spPr>
            <a:xfrm>
              <a:off x="7557944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구조</a:t>
              </a:r>
              <a:endParaRPr lang="en-US" altLang="ko-KR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3741" y="2070158"/>
            <a:ext cx="2133249" cy="3817026"/>
            <a:chOff x="501798" y="2373418"/>
            <a:chExt cx="2133249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626300"/>
              <a:ext cx="2133249" cy="3550843"/>
              <a:chOff x="541891" y="2626300"/>
              <a:chExt cx="2133249" cy="3550843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52833" y="2626300"/>
                <a:ext cx="2122307" cy="351203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3060042"/>
              <a:ext cx="1704241" cy="9805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 및 선정 배경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66883" y="2087840"/>
            <a:ext cx="2142110" cy="3806004"/>
            <a:chOff x="2764366" y="2373418"/>
            <a:chExt cx="2142110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64366" y="2609362"/>
              <a:ext cx="2142110" cy="3567781"/>
              <a:chOff x="2796078" y="2609362"/>
              <a:chExt cx="2142110" cy="3567781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796078" y="2609362"/>
                <a:ext cx="2122307" cy="3464833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2" y="2117834"/>
                <a:ext cx="667575" cy="69854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5EAF9AB-4D7C-5465-0AF3-CD762D73A6DD}"/>
                </a:ext>
              </a:extLst>
            </p:cNvPr>
            <p:cNvSpPr txBox="1"/>
            <p:nvPr/>
          </p:nvSpPr>
          <p:spPr>
            <a:xfrm>
              <a:off x="2784107" y="4304271"/>
              <a:ext cx="2122307" cy="13103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Canvas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API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사용하여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Objects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레이아웃 및 상호작용을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Bootstrap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을 포함한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HTML,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CSS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6641" y="2098569"/>
            <a:ext cx="2162305" cy="3835061"/>
            <a:chOff x="5066540" y="2373418"/>
            <a:chExt cx="2162305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96932"/>
              <a:ext cx="2162305" cy="3580211"/>
              <a:chOff x="541891" y="2596932"/>
              <a:chExt cx="2162305" cy="3580211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81889" y="2596932"/>
                <a:ext cx="2122307" cy="358021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289313C-4C2B-5EE0-C9F0-90127689E2F1}"/>
                </a:ext>
              </a:extLst>
            </p:cNvPr>
            <p:cNvSpPr txBox="1"/>
            <p:nvPr/>
          </p:nvSpPr>
          <p:spPr>
            <a:xfrm>
              <a:off x="5275573" y="3060042"/>
              <a:ext cx="1704241" cy="371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배경 기술</a:t>
              </a:r>
              <a:endPara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B80E50D-4435-40D3-6132-B95A7BAC651C}"/>
                </a:ext>
              </a:extLst>
            </p:cNvPr>
            <p:cNvSpPr txBox="1"/>
            <p:nvPr/>
          </p:nvSpPr>
          <p:spPr>
            <a:xfrm>
              <a:off x="5079126" y="4208095"/>
              <a:ext cx="2122307" cy="17001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도구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VSCode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언어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&amp;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프레임워크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-HTML5, CSS3, Javascript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-Bootstrap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21384" y="2070157"/>
            <a:ext cx="2145598" cy="3863473"/>
            <a:chOff x="9631283" y="2373418"/>
            <a:chExt cx="2145598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3060042"/>
              <a:ext cx="1704241" cy="3654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효과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87F30DB-0C46-D738-9EDC-BA98CB38FF11}"/>
                </a:ext>
              </a:extLst>
            </p:cNvPr>
            <p:cNvSpPr txBox="1"/>
            <p:nvPr/>
          </p:nvSpPr>
          <p:spPr>
            <a:xfrm>
              <a:off x="9654574" y="4226289"/>
              <a:ext cx="2122307" cy="690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간단한 </a:t>
              </a:r>
              <a:r>
                <a:rPr lang="ko-KR" altLang="en-US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웹페이지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구현으로 개인별 기술 스택 점검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협업 능력 향상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832EDE8-4F26-8DFD-4E54-9E0145854A7B}"/>
              </a:ext>
            </a:extLst>
          </p:cNvPr>
          <p:cNvSpPr txBox="1"/>
          <p:nvPr/>
        </p:nvSpPr>
        <p:spPr>
          <a:xfrm>
            <a:off x="511024" y="4015901"/>
            <a:ext cx="2122307" cy="90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물리 엔진을 사용하지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않고 물리 법칙이 적용된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웹 기반 게임 구현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982FB-7CE7-35A3-9648-97A5E0DEA2D5}"/>
              </a:ext>
            </a:extLst>
          </p:cNvPr>
          <p:cNvSpPr txBox="1"/>
          <p:nvPr/>
        </p:nvSpPr>
        <p:spPr>
          <a:xfrm>
            <a:off x="7406592" y="3920770"/>
            <a:ext cx="2122307" cy="1090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프론트 엔드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-HTML, CSS, JS</a:t>
            </a: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테스트 환경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-live server</a:t>
            </a:r>
          </a:p>
        </p:txBody>
      </p: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BDFBBF1-E84A-9DDF-73E2-960C99C4BAB5}"/>
              </a:ext>
            </a:extLst>
          </p:cNvPr>
          <p:cNvGrpSpPr/>
          <p:nvPr/>
        </p:nvGrpSpPr>
        <p:grpSpPr>
          <a:xfrm>
            <a:off x="486866" y="1928291"/>
            <a:ext cx="11218265" cy="378909"/>
            <a:chOff x="541891" y="2097591"/>
            <a:chExt cx="11218265" cy="378909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E5DD20A-D98D-477C-D6C5-F50C33B663C9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67EBB8-F256-651E-8870-1A2D77D8249A}"/>
                </a:ext>
              </a:extLst>
            </p:cNvPr>
            <p:cNvSpPr txBox="1"/>
            <p:nvPr/>
          </p:nvSpPr>
          <p:spPr>
            <a:xfrm>
              <a:off x="760387" y="2136129"/>
              <a:ext cx="547013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6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 </a:t>
              </a:r>
              <a:r>
                <a:rPr lang="ko-KR" altLang="en-US" sz="1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김김이</a:t>
              </a:r>
              <a:endPara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03137"/>
              </p:ext>
            </p:extLst>
          </p:nvPr>
        </p:nvGraphicFramePr>
        <p:xfrm>
          <a:off x="464193" y="2502904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2440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475593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이은비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  <a:endParaRPr lang="en-US" altLang="ko-KR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김규택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r>
                        <a:rPr lang="en-US" altLang="ko-KR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강사</a:t>
                      </a:r>
                      <a:r>
                        <a:rPr lang="en-US" altLang="ko-KR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멘토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98832" y="5934268"/>
            <a:ext cx="109959" cy="109959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525872" y="3272959"/>
            <a:ext cx="2203949" cy="385186"/>
            <a:chOff x="4525872" y="3465937"/>
            <a:chExt cx="2203949" cy="385186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872" y="3465937"/>
              <a:ext cx="1270665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4863253" y="3526713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indent="0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설계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6096000" y="3272959"/>
            <a:ext cx="2274519" cy="385186"/>
            <a:chOff x="7579407" y="3465938"/>
            <a:chExt cx="2274519" cy="385186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407" y="3465938"/>
              <a:ext cx="2274519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407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7943460" y="3520030"/>
              <a:ext cx="191046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오브젝트 동적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525872" y="4065099"/>
            <a:ext cx="2146192" cy="357096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525872" y="4058572"/>
            <a:ext cx="358635" cy="358635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227B33D-FA37-7FD5-4D04-ACA8DC6D3ADC}"/>
              </a:ext>
            </a:extLst>
          </p:cNvPr>
          <p:cNvSpPr txBox="1"/>
          <p:nvPr/>
        </p:nvSpPr>
        <p:spPr>
          <a:xfrm>
            <a:off x="4898656" y="4113657"/>
            <a:ext cx="19894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및 오브젝트</a:t>
            </a: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디자인</a:t>
            </a:r>
            <a:endParaRPr lang="en-US" altLang="ko-KR" sz="1200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93097" y="4142722"/>
            <a:ext cx="216867" cy="193294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525873" y="4852692"/>
            <a:ext cx="3370328" cy="367539"/>
            <a:chOff x="4525872" y="5045671"/>
            <a:chExt cx="3465999" cy="35863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872" y="5045671"/>
              <a:ext cx="3465998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공의 움직임을 벡터로 물리법칙 구현 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2" name="그래픽 181">
              <a:extLst>
                <a:ext uri="{FF2B5EF4-FFF2-40B4-BE49-F238E27FC236}">
                  <a16:creationId xmlns:a16="http://schemas.microsoft.com/office/drawing/2014/main" id="{868BBF98-12BA-9238-1643-BF7C1BA2E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4820809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2700000">
            <a:off x="11833039" y="4869517"/>
            <a:ext cx="154011" cy="154011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6580C40C-CE62-D6DB-B179-31E1A33FC60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65414" y="3374052"/>
            <a:ext cx="219805" cy="201488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F1066B21-0D79-8256-5B4A-B35CDA5F1182}"/>
              </a:ext>
            </a:extLst>
          </p:cNvPr>
          <p:cNvGrpSpPr/>
          <p:nvPr/>
        </p:nvGrpSpPr>
        <p:grpSpPr>
          <a:xfrm>
            <a:off x="6902237" y="4058572"/>
            <a:ext cx="3465999" cy="367540"/>
            <a:chOff x="4525872" y="5036767"/>
            <a:chExt cx="3465999" cy="367540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CD044201-6DC2-3EDE-1C4C-6F09F3A0EAFE}"/>
                </a:ext>
              </a:extLst>
            </p:cNvPr>
            <p:cNvSpPr/>
            <p:nvPr/>
          </p:nvSpPr>
          <p:spPr>
            <a:xfrm>
              <a:off x="4525872" y="5036767"/>
              <a:ext cx="2506131" cy="3675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C182CF42-ACCF-82EC-61BC-8F5BC126039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881D56-69C3-D810-477F-7F396C3981C2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상호작용 이벤트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32" name="그래픽 31">
              <a:extLst>
                <a:ext uri="{FF2B5EF4-FFF2-40B4-BE49-F238E27FC236}">
                  <a16:creationId xmlns:a16="http://schemas.microsoft.com/office/drawing/2014/main" id="{F464E3CF-840D-CA14-370A-4D4125E7A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1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F166B562-3F79-C327-CD6A-5FD20727CF64}"/>
              </a:ext>
            </a:extLst>
          </p:cNvPr>
          <p:cNvGrpSpPr/>
          <p:nvPr/>
        </p:nvGrpSpPr>
        <p:grpSpPr>
          <a:xfrm>
            <a:off x="7940514" y="4828552"/>
            <a:ext cx="1936564" cy="367539"/>
            <a:chOff x="4525872" y="5045671"/>
            <a:chExt cx="1825526" cy="358636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FEC4B1F7-101B-75B8-7859-09A5CD082DA6}"/>
                </a:ext>
              </a:extLst>
            </p:cNvPr>
            <p:cNvSpPr/>
            <p:nvPr/>
          </p:nvSpPr>
          <p:spPr>
            <a:xfrm>
              <a:off x="4525872" y="5045671"/>
              <a:ext cx="1815557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8982E5D1-3BBC-D332-F39A-8B3E1A43ECC9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19D2C09-240F-A8CE-9841-A478C03CD13D}"/>
                </a:ext>
              </a:extLst>
            </p:cNvPr>
            <p:cNvSpPr txBox="1"/>
            <p:nvPr/>
          </p:nvSpPr>
          <p:spPr>
            <a:xfrm>
              <a:off x="4866679" y="5069538"/>
              <a:ext cx="1484719" cy="2702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충돌 이벤트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6" name="그래픽 15">
              <a:extLst>
                <a:ext uri="{FF2B5EF4-FFF2-40B4-BE49-F238E27FC236}">
                  <a16:creationId xmlns:a16="http://schemas.microsoft.com/office/drawing/2014/main" id="{19C1770B-2828-FDCD-7EFD-D60EE99BF3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0D401E7-2887-88D6-145F-D10A3772AB0E}"/>
              </a:ext>
            </a:extLst>
          </p:cNvPr>
          <p:cNvGrpSpPr/>
          <p:nvPr/>
        </p:nvGrpSpPr>
        <p:grpSpPr>
          <a:xfrm>
            <a:off x="4525872" y="5618281"/>
            <a:ext cx="4226492" cy="358636"/>
            <a:chOff x="4525872" y="5811259"/>
            <a:chExt cx="4226492" cy="358636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FA88CC88-4F27-9865-DF0B-49276BFD04CC}"/>
                </a:ext>
              </a:extLst>
            </p:cNvPr>
            <p:cNvSpPr/>
            <p:nvPr/>
          </p:nvSpPr>
          <p:spPr>
            <a:xfrm>
              <a:off x="4525872" y="5811259"/>
              <a:ext cx="3226312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CE25E09D-1E12-CE17-060F-06CD69D03E89}"/>
                </a:ext>
              </a:extLst>
            </p:cNvPr>
            <p:cNvSpPr/>
            <p:nvPr/>
          </p:nvSpPr>
          <p:spPr>
            <a:xfrm>
              <a:off x="4525872" y="5811259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0EDD62F-617F-E136-5AF3-3129F1D45F10}"/>
                </a:ext>
              </a:extLst>
            </p:cNvPr>
            <p:cNvSpPr txBox="1"/>
            <p:nvPr/>
          </p:nvSpPr>
          <p:spPr>
            <a:xfrm>
              <a:off x="4898656" y="5852537"/>
              <a:ext cx="38537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주제 선정 피드백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질의응답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24" name="그래픽 23">
              <a:extLst>
                <a:ext uri="{FF2B5EF4-FFF2-40B4-BE49-F238E27FC236}">
                  <a16:creationId xmlns:a16="http://schemas.microsoft.com/office/drawing/2014/main" id="{748713F0-0EB5-10A5-A7E4-E78CAF9FD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4606764" y="5897394"/>
              <a:ext cx="186838" cy="1829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9932366" cy="830997"/>
            <a:chOff x="376102" y="333243"/>
            <a:chExt cx="9932366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8846747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구현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벡터연산과 오브젝트의 클래스화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7D09214-7FAC-FD07-A5B4-2B1EEFFDBA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2360" y="1780875"/>
            <a:ext cx="3341574" cy="380248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95671EB-9BF9-09E5-E345-B8D87F7EDFDC}"/>
              </a:ext>
            </a:extLst>
          </p:cNvPr>
          <p:cNvSpPr/>
          <p:nvPr/>
        </p:nvSpPr>
        <p:spPr>
          <a:xfrm>
            <a:off x="274810" y="5595073"/>
            <a:ext cx="3369654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Vector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연산으로 직접 공의 움직임과 충돌을 구현하여 물리법칙을 적용시킴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D576345-58AE-00CC-97BB-5A9CDDA9B6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28457" y="1816880"/>
            <a:ext cx="3433712" cy="33677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C497904-0BA3-06A7-AB33-FEC3CF30DA6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94327" y="2369153"/>
            <a:ext cx="3172003" cy="163591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62B4838-C542-5026-80FC-CFADDDF2895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5736" y="4013576"/>
            <a:ext cx="2700715" cy="262926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43F3CF22-4DF2-82F4-8554-FC19B0EFB5FE}"/>
              </a:ext>
            </a:extLst>
          </p:cNvPr>
          <p:cNvSpPr/>
          <p:nvPr/>
        </p:nvSpPr>
        <p:spPr>
          <a:xfrm>
            <a:off x="8594805" y="4635129"/>
            <a:ext cx="3571049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오브젝트들의 클래스화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95474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69" y="70718"/>
            <a:ext cx="12017829" cy="923257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1364" y="206484"/>
            <a:ext cx="6048672" cy="830997"/>
            <a:chOff x="376102" y="333243"/>
            <a:chExt cx="5948498" cy="87690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5212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순서도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동작 과정 요약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7690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87083" y="1208000"/>
            <a:ext cx="12192000" cy="233580"/>
          </a:xfrm>
          <a:prstGeom prst="rect">
            <a:avLst/>
          </a:prstGeom>
        </p:spPr>
      </p:pic>
      <p:pic>
        <p:nvPicPr>
          <p:cNvPr id="9" name="그림 8" descr="도표, 기술 도면, 평면도, 라인이(가) 표시된 사진&#10;&#10;자동 생성된 설명">
            <a:extLst>
              <a:ext uri="{FF2B5EF4-FFF2-40B4-BE49-F238E27FC236}">
                <a16:creationId xmlns:a16="http://schemas.microsoft.com/office/drawing/2014/main" id="{43F208E0-57CD-4B6D-32CA-5450830AF8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448" y="1389822"/>
            <a:ext cx="3472918" cy="519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288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69" y="70718"/>
            <a:ext cx="12017829" cy="923257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1364" y="206484"/>
            <a:ext cx="6048672" cy="830997"/>
            <a:chOff x="376102" y="333243"/>
            <a:chExt cx="5948498" cy="87690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5212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순서도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시나리오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7690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87083" y="1208000"/>
            <a:ext cx="12192000" cy="233580"/>
          </a:xfrm>
          <a:prstGeom prst="rect">
            <a:avLst/>
          </a:prstGeom>
        </p:spPr>
      </p:pic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338D982-DB2C-0C32-1086-396C4C683D3F}"/>
              </a:ext>
            </a:extLst>
          </p:cNvPr>
          <p:cNvSpPr/>
          <p:nvPr/>
        </p:nvSpPr>
        <p:spPr>
          <a:xfrm>
            <a:off x="68215" y="3286724"/>
            <a:ext cx="554910" cy="931088"/>
          </a:xfrm>
          <a:prstGeom prst="roundRect">
            <a:avLst>
              <a:gd name="adj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시작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EE2966-7D07-0EBF-5994-4EC3242D2145}"/>
              </a:ext>
            </a:extLst>
          </p:cNvPr>
          <p:cNvSpPr/>
          <p:nvPr/>
        </p:nvSpPr>
        <p:spPr>
          <a:xfrm>
            <a:off x="810500" y="3530068"/>
            <a:ext cx="1268979" cy="44439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스테이지</a:t>
            </a:r>
          </a:p>
        </p:txBody>
      </p:sp>
      <p:sp>
        <p:nvSpPr>
          <p:cNvPr id="19" name="순서도: 판단 18">
            <a:extLst>
              <a:ext uri="{FF2B5EF4-FFF2-40B4-BE49-F238E27FC236}">
                <a16:creationId xmlns:a16="http://schemas.microsoft.com/office/drawing/2014/main" id="{3A5FBDCD-C60A-EDED-5990-7EA1D6EDEE12}"/>
              </a:ext>
            </a:extLst>
          </p:cNvPr>
          <p:cNvSpPr/>
          <p:nvPr/>
        </p:nvSpPr>
        <p:spPr>
          <a:xfrm>
            <a:off x="2355209" y="2284940"/>
            <a:ext cx="1403889" cy="903884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 회복</a:t>
            </a:r>
            <a:endParaRPr lang="en-US" altLang="ko-KR" sz="1000" dirty="0"/>
          </a:p>
          <a:p>
            <a:pPr algn="ctr"/>
            <a:r>
              <a:rPr lang="ko-KR" altLang="en-US" sz="1000" dirty="0"/>
              <a:t>아이템 습득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4C428E2-47CC-99FA-EA0A-5966E4368B8C}"/>
              </a:ext>
            </a:extLst>
          </p:cNvPr>
          <p:cNvSpPr/>
          <p:nvPr/>
        </p:nvSpPr>
        <p:spPr>
          <a:xfrm>
            <a:off x="4021609" y="2503542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 </a:t>
            </a:r>
            <a:r>
              <a:rPr lang="en-US" altLang="ko-KR" sz="1000" dirty="0"/>
              <a:t>+1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2B0CFB7-6E92-D483-944B-91ECAE6806D4}"/>
              </a:ext>
            </a:extLst>
          </p:cNvPr>
          <p:cNvSpPr/>
          <p:nvPr/>
        </p:nvSpPr>
        <p:spPr>
          <a:xfrm>
            <a:off x="4006753" y="1565906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 위치 초기화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0B4B28B-9A43-5355-E1F7-487EDB0D9A7E}"/>
              </a:ext>
            </a:extLst>
          </p:cNvPr>
          <p:cNvSpPr/>
          <p:nvPr/>
        </p:nvSpPr>
        <p:spPr>
          <a:xfrm>
            <a:off x="4021608" y="3527423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 </a:t>
            </a:r>
            <a:r>
              <a:rPr lang="en-US" altLang="ko-KR" sz="1000" dirty="0"/>
              <a:t>-1</a:t>
            </a:r>
            <a:endParaRPr lang="ko-KR" altLang="en-US" sz="10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069573E-4C56-568E-0865-626F94D70A74}"/>
              </a:ext>
            </a:extLst>
          </p:cNvPr>
          <p:cNvSpPr/>
          <p:nvPr/>
        </p:nvSpPr>
        <p:spPr>
          <a:xfrm>
            <a:off x="4114566" y="4547491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벽돌 생명력 </a:t>
            </a:r>
            <a:r>
              <a:rPr lang="en-US" altLang="ko-KR" sz="1000" dirty="0"/>
              <a:t>-1</a:t>
            </a:r>
            <a:endParaRPr lang="ko-KR" altLang="en-US" sz="1000" dirty="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65A4DECB-F8F1-5600-49D0-CD20A9B43F79}"/>
              </a:ext>
            </a:extLst>
          </p:cNvPr>
          <p:cNvSpPr/>
          <p:nvPr/>
        </p:nvSpPr>
        <p:spPr>
          <a:xfrm>
            <a:off x="5546668" y="4327353"/>
            <a:ext cx="1828954" cy="869658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모든 벽돌을 부셨는가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41" name="순서도: 판단 40">
            <a:extLst>
              <a:ext uri="{FF2B5EF4-FFF2-40B4-BE49-F238E27FC236}">
                <a16:creationId xmlns:a16="http://schemas.microsoft.com/office/drawing/2014/main" id="{5E079F83-19D8-1718-E38F-DF9D53050917}"/>
              </a:ext>
            </a:extLst>
          </p:cNvPr>
          <p:cNvSpPr/>
          <p:nvPr/>
        </p:nvSpPr>
        <p:spPr>
          <a:xfrm>
            <a:off x="2346564" y="1324790"/>
            <a:ext cx="1403889" cy="903884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 위치 초기화 아이템 습득</a:t>
            </a:r>
          </a:p>
        </p:txBody>
      </p:sp>
      <p:sp>
        <p:nvSpPr>
          <p:cNvPr id="42" name="순서도: 판단 41">
            <a:extLst>
              <a:ext uri="{FF2B5EF4-FFF2-40B4-BE49-F238E27FC236}">
                <a16:creationId xmlns:a16="http://schemas.microsoft.com/office/drawing/2014/main" id="{26EA633E-0338-A52D-40ED-86D58DA9195C}"/>
              </a:ext>
            </a:extLst>
          </p:cNvPr>
          <p:cNvSpPr/>
          <p:nvPr/>
        </p:nvSpPr>
        <p:spPr>
          <a:xfrm>
            <a:off x="2336881" y="3281297"/>
            <a:ext cx="1403889" cy="903884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공이 </a:t>
            </a:r>
            <a:endParaRPr lang="en-US" altLang="ko-KR" sz="1000" dirty="0"/>
          </a:p>
          <a:p>
            <a:pPr algn="ctr"/>
            <a:r>
              <a:rPr lang="ko-KR" altLang="en-US" sz="1000" dirty="0"/>
              <a:t>받침대 밑 벽에 충돌</a:t>
            </a:r>
          </a:p>
        </p:txBody>
      </p:sp>
      <p:sp>
        <p:nvSpPr>
          <p:cNvPr id="43" name="순서도: 판단 42">
            <a:extLst>
              <a:ext uri="{FF2B5EF4-FFF2-40B4-BE49-F238E27FC236}">
                <a16:creationId xmlns:a16="http://schemas.microsoft.com/office/drawing/2014/main" id="{5DD97ECD-940F-87A1-4A41-DA242A10034B}"/>
              </a:ext>
            </a:extLst>
          </p:cNvPr>
          <p:cNvSpPr/>
          <p:nvPr/>
        </p:nvSpPr>
        <p:spPr>
          <a:xfrm>
            <a:off x="2342313" y="4310240"/>
            <a:ext cx="1403889" cy="903884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공이</a:t>
            </a:r>
            <a:endParaRPr lang="en-US" altLang="ko-KR" sz="1000" dirty="0"/>
          </a:p>
          <a:p>
            <a:pPr algn="ctr"/>
            <a:r>
              <a:rPr lang="ko-KR" altLang="en-US" sz="1000" dirty="0"/>
              <a:t>벽돌에</a:t>
            </a:r>
            <a:endParaRPr lang="en-US" altLang="ko-KR" sz="1000" dirty="0"/>
          </a:p>
          <a:p>
            <a:pPr algn="ctr"/>
            <a:r>
              <a:rPr lang="ko-KR" altLang="en-US" sz="1000" dirty="0"/>
              <a:t>충돌</a:t>
            </a:r>
          </a:p>
        </p:txBody>
      </p:sp>
      <p:sp>
        <p:nvSpPr>
          <p:cNvPr id="44" name="순서도: 판단 43">
            <a:extLst>
              <a:ext uri="{FF2B5EF4-FFF2-40B4-BE49-F238E27FC236}">
                <a16:creationId xmlns:a16="http://schemas.microsoft.com/office/drawing/2014/main" id="{C60A3F7A-8684-6464-ADBC-B7500F7AD268}"/>
              </a:ext>
            </a:extLst>
          </p:cNvPr>
          <p:cNvSpPr/>
          <p:nvPr/>
        </p:nvSpPr>
        <p:spPr>
          <a:xfrm>
            <a:off x="2355209" y="5375391"/>
            <a:ext cx="1403889" cy="903884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생명력이 </a:t>
            </a:r>
            <a:r>
              <a:rPr lang="en-US" altLang="ko-KR" sz="1000" dirty="0"/>
              <a:t>0</a:t>
            </a:r>
            <a:r>
              <a:rPr lang="ko-KR" altLang="en-US" sz="1000" dirty="0"/>
              <a:t>인가</a:t>
            </a:r>
          </a:p>
        </p:txBody>
      </p:sp>
      <p:sp>
        <p:nvSpPr>
          <p:cNvPr id="45" name="평행 사변형 44">
            <a:extLst>
              <a:ext uri="{FF2B5EF4-FFF2-40B4-BE49-F238E27FC236}">
                <a16:creationId xmlns:a16="http://schemas.microsoft.com/office/drawing/2014/main" id="{483203EE-AA21-484F-F0C3-9FE5EDA55E65}"/>
              </a:ext>
            </a:extLst>
          </p:cNvPr>
          <p:cNvSpPr/>
          <p:nvPr/>
        </p:nvSpPr>
        <p:spPr>
          <a:xfrm>
            <a:off x="10751430" y="3247937"/>
            <a:ext cx="1260140" cy="576064"/>
          </a:xfrm>
          <a:prstGeom prst="parallelogram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300" dirty="0"/>
              <a:t>게임종료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A51CE0C-25D5-EC59-8F0A-FB140FD0E3A9}"/>
              </a:ext>
            </a:extLst>
          </p:cNvPr>
          <p:cNvSpPr/>
          <p:nvPr/>
        </p:nvSpPr>
        <p:spPr>
          <a:xfrm>
            <a:off x="7769994" y="4547491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벽돌 깨짐</a:t>
            </a:r>
          </a:p>
        </p:txBody>
      </p:sp>
      <p:sp>
        <p:nvSpPr>
          <p:cNvPr id="6" name="순서도: 판단 5">
            <a:extLst>
              <a:ext uri="{FF2B5EF4-FFF2-40B4-BE49-F238E27FC236}">
                <a16:creationId xmlns:a16="http://schemas.microsoft.com/office/drawing/2014/main" id="{8914D9E1-58C0-447A-7F9B-466CAC858FAE}"/>
              </a:ext>
            </a:extLst>
          </p:cNvPr>
          <p:cNvSpPr/>
          <p:nvPr/>
        </p:nvSpPr>
        <p:spPr>
          <a:xfrm>
            <a:off x="9306511" y="4319274"/>
            <a:ext cx="1828954" cy="869658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5</a:t>
            </a:r>
            <a:r>
              <a:rPr lang="ko-KR" altLang="en-US" sz="1000" dirty="0"/>
              <a:t>스테이지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DF37FA-1B59-E853-AA28-278CC90CDF20}"/>
              </a:ext>
            </a:extLst>
          </p:cNvPr>
          <p:cNvSpPr/>
          <p:nvPr/>
        </p:nvSpPr>
        <p:spPr>
          <a:xfrm>
            <a:off x="9664664" y="6188706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스테이지</a:t>
            </a:r>
            <a:r>
              <a:rPr lang="en-US" altLang="ko-KR" sz="1000" dirty="0"/>
              <a:t>++</a:t>
            </a:r>
            <a:endParaRPr lang="ko-KR" altLang="en-US" sz="10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65FB82F-7614-C20F-66D0-612C196AD374}"/>
              </a:ext>
            </a:extLst>
          </p:cNvPr>
          <p:cNvSpPr/>
          <p:nvPr/>
        </p:nvSpPr>
        <p:spPr>
          <a:xfrm>
            <a:off x="10806032" y="2069507"/>
            <a:ext cx="1260140" cy="57606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점수 및 순위 출력</a:t>
            </a:r>
            <a:endParaRPr lang="ko-KR" altLang="en-US" sz="100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0A105AE-8886-AC73-49F2-55B258FDC893}"/>
              </a:ext>
            </a:extLst>
          </p:cNvPr>
          <p:cNvCxnSpPr>
            <a:stCxn id="17" idx="3"/>
            <a:endCxn id="18" idx="1"/>
          </p:cNvCxnSpPr>
          <p:nvPr/>
        </p:nvCxnSpPr>
        <p:spPr>
          <a:xfrm>
            <a:off x="623125" y="3752268"/>
            <a:ext cx="1873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AEF4F07F-6413-6D5F-8F35-3F9C6DCBC7F2}"/>
              </a:ext>
            </a:extLst>
          </p:cNvPr>
          <p:cNvCxnSpPr>
            <a:stCxn id="18" idx="3"/>
            <a:endCxn id="41" idx="1"/>
          </p:cNvCxnSpPr>
          <p:nvPr/>
        </p:nvCxnSpPr>
        <p:spPr>
          <a:xfrm flipV="1">
            <a:off x="2079479" y="1776732"/>
            <a:ext cx="267085" cy="197553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C922DC91-CB2A-BBE5-C172-357DB5F5C5EE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 flipV="1">
            <a:off x="2079479" y="2736882"/>
            <a:ext cx="275730" cy="10153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F0AE8A8C-E46F-3D4F-3817-272D66F9622C}"/>
              </a:ext>
            </a:extLst>
          </p:cNvPr>
          <p:cNvCxnSpPr>
            <a:stCxn id="18" idx="3"/>
            <a:endCxn id="42" idx="1"/>
          </p:cNvCxnSpPr>
          <p:nvPr/>
        </p:nvCxnSpPr>
        <p:spPr>
          <a:xfrm flipV="1">
            <a:off x="2079479" y="3733239"/>
            <a:ext cx="257402" cy="19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20358633-42F2-4800-E12E-64F73E7A4854}"/>
              </a:ext>
            </a:extLst>
          </p:cNvPr>
          <p:cNvCxnSpPr>
            <a:stCxn id="18" idx="3"/>
            <a:endCxn id="43" idx="1"/>
          </p:cNvCxnSpPr>
          <p:nvPr/>
        </p:nvCxnSpPr>
        <p:spPr>
          <a:xfrm>
            <a:off x="2079479" y="3752268"/>
            <a:ext cx="262834" cy="10099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50DAB2A2-6D54-E026-BA37-8B00A9502C96}"/>
              </a:ext>
            </a:extLst>
          </p:cNvPr>
          <p:cNvCxnSpPr>
            <a:stCxn id="18" idx="3"/>
            <a:endCxn id="44" idx="1"/>
          </p:cNvCxnSpPr>
          <p:nvPr/>
        </p:nvCxnSpPr>
        <p:spPr>
          <a:xfrm>
            <a:off x="2079479" y="3752268"/>
            <a:ext cx="275730" cy="207506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58009D7-3C40-43FA-4174-A0A431359E9F}"/>
              </a:ext>
            </a:extLst>
          </p:cNvPr>
          <p:cNvCxnSpPr>
            <a:stCxn id="41" idx="3"/>
            <a:endCxn id="34" idx="1"/>
          </p:cNvCxnSpPr>
          <p:nvPr/>
        </p:nvCxnSpPr>
        <p:spPr>
          <a:xfrm>
            <a:off x="3750453" y="1776732"/>
            <a:ext cx="256300" cy="3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0CDF2A4A-1320-9CAD-49E4-D7E7DB06C690}"/>
              </a:ext>
            </a:extLst>
          </p:cNvPr>
          <p:cNvCxnSpPr>
            <a:stCxn id="19" idx="3"/>
            <a:endCxn id="33" idx="1"/>
          </p:cNvCxnSpPr>
          <p:nvPr/>
        </p:nvCxnSpPr>
        <p:spPr>
          <a:xfrm flipV="1">
            <a:off x="3759098" y="2718233"/>
            <a:ext cx="262511" cy="18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5367551C-CA87-EDBC-3B1D-42835E062936}"/>
              </a:ext>
            </a:extLst>
          </p:cNvPr>
          <p:cNvCxnSpPr>
            <a:stCxn id="42" idx="3"/>
            <a:endCxn id="35" idx="1"/>
          </p:cNvCxnSpPr>
          <p:nvPr/>
        </p:nvCxnSpPr>
        <p:spPr>
          <a:xfrm>
            <a:off x="3740770" y="3733239"/>
            <a:ext cx="280838" cy="8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20A6347A-0DD4-833A-D207-DAEBFB83AFC4}"/>
              </a:ext>
            </a:extLst>
          </p:cNvPr>
          <p:cNvCxnSpPr>
            <a:stCxn id="43" idx="3"/>
            <a:endCxn id="36" idx="1"/>
          </p:cNvCxnSpPr>
          <p:nvPr/>
        </p:nvCxnSpPr>
        <p:spPr>
          <a:xfrm>
            <a:off x="3746202" y="4762182"/>
            <a:ext cx="3683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17087294-FB21-0FC6-3BCC-BFDF00D304C9}"/>
              </a:ext>
            </a:extLst>
          </p:cNvPr>
          <p:cNvCxnSpPr>
            <a:stCxn id="36" idx="3"/>
            <a:endCxn id="40" idx="1"/>
          </p:cNvCxnSpPr>
          <p:nvPr/>
        </p:nvCxnSpPr>
        <p:spPr>
          <a:xfrm>
            <a:off x="5227213" y="4762182"/>
            <a:ext cx="3194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083F9719-9856-E098-D1B5-9C13C791E49F}"/>
              </a:ext>
            </a:extLst>
          </p:cNvPr>
          <p:cNvCxnSpPr>
            <a:stCxn id="40" idx="3"/>
            <a:endCxn id="5" idx="1"/>
          </p:cNvCxnSpPr>
          <p:nvPr/>
        </p:nvCxnSpPr>
        <p:spPr>
          <a:xfrm>
            <a:off x="7375622" y="4762182"/>
            <a:ext cx="3943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4FA4FF29-3ED1-3919-9CDE-B5109C150A51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8882641" y="4754103"/>
            <a:ext cx="423870" cy="80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E2086EF3-2850-CE8D-1237-707783AE664D}"/>
              </a:ext>
            </a:extLst>
          </p:cNvPr>
          <p:cNvCxnSpPr>
            <a:stCxn id="45" idx="1"/>
            <a:endCxn id="12" idx="2"/>
          </p:cNvCxnSpPr>
          <p:nvPr/>
        </p:nvCxnSpPr>
        <p:spPr>
          <a:xfrm flipH="1" flipV="1">
            <a:off x="11436102" y="2645571"/>
            <a:ext cx="17406" cy="602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2D306A6-0C2A-1839-DEB2-A0B91BBEB21B}"/>
              </a:ext>
            </a:extLst>
          </p:cNvPr>
          <p:cNvCxnSpPr>
            <a:stCxn id="6" idx="2"/>
            <a:endCxn id="8" idx="0"/>
          </p:cNvCxnSpPr>
          <p:nvPr/>
        </p:nvCxnSpPr>
        <p:spPr>
          <a:xfrm>
            <a:off x="10220988" y="5188932"/>
            <a:ext cx="0" cy="9997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연결선: 꺾임 82">
            <a:extLst>
              <a:ext uri="{FF2B5EF4-FFF2-40B4-BE49-F238E27FC236}">
                <a16:creationId xmlns:a16="http://schemas.microsoft.com/office/drawing/2014/main" id="{87FF62AC-32EA-36DD-28D6-5B89D1F89BCB}"/>
              </a:ext>
            </a:extLst>
          </p:cNvPr>
          <p:cNvCxnSpPr>
            <a:cxnSpLocks/>
            <a:stCxn id="8" idx="1"/>
            <a:endCxn id="18" idx="2"/>
          </p:cNvCxnSpPr>
          <p:nvPr/>
        </p:nvCxnSpPr>
        <p:spPr>
          <a:xfrm rot="10800000">
            <a:off x="1444990" y="3974467"/>
            <a:ext cx="8219674" cy="24289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연결선: 꺾임 107">
            <a:extLst>
              <a:ext uri="{FF2B5EF4-FFF2-40B4-BE49-F238E27FC236}">
                <a16:creationId xmlns:a16="http://schemas.microsoft.com/office/drawing/2014/main" id="{AB5F9B42-F710-9942-552A-0C2660BFA682}"/>
              </a:ext>
            </a:extLst>
          </p:cNvPr>
          <p:cNvCxnSpPr>
            <a:stCxn id="44" idx="3"/>
            <a:endCxn id="45" idx="4"/>
          </p:cNvCxnSpPr>
          <p:nvPr/>
        </p:nvCxnSpPr>
        <p:spPr>
          <a:xfrm flipV="1">
            <a:off x="3759098" y="3824001"/>
            <a:ext cx="7622402" cy="200333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연결선: 꺾임 112">
            <a:extLst>
              <a:ext uri="{FF2B5EF4-FFF2-40B4-BE49-F238E27FC236}">
                <a16:creationId xmlns:a16="http://schemas.microsoft.com/office/drawing/2014/main" id="{C830A1A1-D9C8-1C6C-FB4C-F2A5D94160B7}"/>
              </a:ext>
            </a:extLst>
          </p:cNvPr>
          <p:cNvCxnSpPr>
            <a:stCxn id="6" idx="0"/>
            <a:endCxn id="45" idx="5"/>
          </p:cNvCxnSpPr>
          <p:nvPr/>
        </p:nvCxnSpPr>
        <p:spPr>
          <a:xfrm rot="5400000" flipH="1" flipV="1">
            <a:off x="10130561" y="3626397"/>
            <a:ext cx="783305" cy="60245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969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시작화면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272942"/>
            <a:ext cx="12192000" cy="58505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C5753E8-9CF1-E653-60C1-254D3B650A1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04002" y="2075115"/>
            <a:ext cx="4471216" cy="422238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0C6B4EB-717D-E1CB-7D23-8110AC7BCAA6}"/>
              </a:ext>
            </a:extLst>
          </p:cNvPr>
          <p:cNvSpPr/>
          <p:nvPr/>
        </p:nvSpPr>
        <p:spPr>
          <a:xfrm>
            <a:off x="4362555" y="1651270"/>
            <a:ext cx="3154110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 시작 씬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72061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EA90EF0E-5B26-74AA-B972-2174A481E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357" y="1579034"/>
            <a:ext cx="4143953" cy="4448796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0" y="6272942"/>
            <a:ext cx="12192000" cy="585057"/>
          </a:xfrm>
          <a:prstGeom prst="rect">
            <a:avLst/>
          </a:prstGeom>
        </p:spPr>
      </p:pic>
      <p:sp>
        <p:nvSpPr>
          <p:cNvPr id="8" name="말풍선: 모서리가 둥근 사각형 7">
            <a:extLst>
              <a:ext uri="{FF2B5EF4-FFF2-40B4-BE49-F238E27FC236}">
                <a16:creationId xmlns:a16="http://schemas.microsoft.com/office/drawing/2014/main" id="{BE3427A9-5E29-2B23-0F81-0B82E3F46010}"/>
              </a:ext>
            </a:extLst>
          </p:cNvPr>
          <p:cNvSpPr/>
          <p:nvPr/>
        </p:nvSpPr>
        <p:spPr>
          <a:xfrm>
            <a:off x="8480970" y="2028735"/>
            <a:ext cx="2016224" cy="684076"/>
          </a:xfrm>
          <a:prstGeom prst="wedgeRoundRectCallout">
            <a:avLst>
              <a:gd name="adj1" fmla="val -85922"/>
              <a:gd name="adj2" fmla="val 1093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기본 생명력 </a:t>
            </a:r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AE120668-9740-FF69-D695-8847C23C5875}"/>
              </a:ext>
            </a:extLst>
          </p:cNvPr>
          <p:cNvSpPr/>
          <p:nvPr/>
        </p:nvSpPr>
        <p:spPr>
          <a:xfrm>
            <a:off x="1336675" y="2280483"/>
            <a:ext cx="2180788" cy="684076"/>
          </a:xfrm>
          <a:prstGeom prst="wedgeRoundRectCallout">
            <a:avLst>
              <a:gd name="adj1" fmla="val 87515"/>
              <a:gd name="adj2" fmla="val -43440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총 </a:t>
            </a:r>
            <a:r>
              <a:rPr lang="en-US" altLang="ko-KR" dirty="0"/>
              <a:t>5</a:t>
            </a:r>
            <a:r>
              <a:rPr lang="ko-KR" altLang="en-US" dirty="0"/>
              <a:t>개의 스테이지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EB88333-B599-D22E-B0E3-CD6BB4C296A2}"/>
              </a:ext>
            </a:extLst>
          </p:cNvPr>
          <p:cNvSpPr/>
          <p:nvPr/>
        </p:nvSpPr>
        <p:spPr>
          <a:xfrm>
            <a:off x="8621620" y="3915530"/>
            <a:ext cx="2711130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벽돌을 모두 부시면 다음스테이지로 이동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8884165E-DEB0-ACF3-33CB-825BEB606D0B}"/>
              </a:ext>
            </a:extLst>
          </p:cNvPr>
          <p:cNvSpPr/>
          <p:nvPr/>
        </p:nvSpPr>
        <p:spPr>
          <a:xfrm>
            <a:off x="211309" y="5168674"/>
            <a:ext cx="3499718" cy="611256"/>
          </a:xfrm>
          <a:prstGeom prst="wedgeRoundRectCallout">
            <a:avLst>
              <a:gd name="adj1" fmla="val 109201"/>
              <a:gd name="adj2" fmla="val -13635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방향키로 좌 우 움직임만 가능</a:t>
            </a:r>
          </a:p>
        </p:txBody>
      </p: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DDD4CB5F-B57A-C5B1-DDA8-9A135F25CF1C}"/>
              </a:ext>
            </a:extLst>
          </p:cNvPr>
          <p:cNvSpPr/>
          <p:nvPr/>
        </p:nvSpPr>
        <p:spPr>
          <a:xfrm>
            <a:off x="8387307" y="5049180"/>
            <a:ext cx="3207388" cy="1080119"/>
          </a:xfrm>
          <a:prstGeom prst="wedgeRoundRectCallout">
            <a:avLst>
              <a:gd name="adj1" fmla="val -120179"/>
              <a:gd name="adj2" fmla="val -42890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첫 시작 시 마우스 클릭으로 공을 날릴 방향을 정할 수 있음</a:t>
            </a: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B40802E1-CA05-178B-557B-F02FB525B01D}"/>
              </a:ext>
            </a:extLst>
          </p:cNvPr>
          <p:cNvSpPr/>
          <p:nvPr/>
        </p:nvSpPr>
        <p:spPr>
          <a:xfrm>
            <a:off x="421798" y="3641296"/>
            <a:ext cx="2914927" cy="1031909"/>
          </a:xfrm>
          <a:prstGeom prst="wedgeRoundRectCallout">
            <a:avLst>
              <a:gd name="adj1" fmla="val 121935"/>
              <a:gd name="adj2" fmla="val -169871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충돌 횟수와 생명력에 따라 획득 점수가 다름</a:t>
            </a:r>
          </a:p>
        </p:txBody>
      </p:sp>
    </p:spTree>
    <p:extLst>
      <p:ext uri="{BB962C8B-B14F-4D97-AF65-F5344CB8AC3E}">
        <p14:creationId xmlns:p14="http://schemas.microsoft.com/office/powerpoint/2010/main" val="2364759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6836022" cy="830997"/>
            <a:chOff x="376102" y="333243"/>
            <a:chExt cx="6836022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575040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벽돌의 생명력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A9F5B4A-72BD-2DA3-FD24-DCAC9BE771F7}"/>
              </a:ext>
            </a:extLst>
          </p:cNvPr>
          <p:cNvSpPr/>
          <p:nvPr/>
        </p:nvSpPr>
        <p:spPr>
          <a:xfrm>
            <a:off x="6132964" y="5025455"/>
            <a:ext cx="508842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벽돌의 생명력 </a:t>
            </a:r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= 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 번호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공이 벽돌의 생명력 만큼 충돌해야 파괴됨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7F4C92D-FC09-F126-988B-4A29683F23DC}"/>
              </a:ext>
            </a:extLst>
          </p:cNvPr>
          <p:cNvSpPr/>
          <p:nvPr/>
        </p:nvSpPr>
        <p:spPr>
          <a:xfrm>
            <a:off x="9575705" y="2006105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E6362D2-4906-F158-01A9-F5ECE94E824C}"/>
              </a:ext>
            </a:extLst>
          </p:cNvPr>
          <p:cNvSpPr/>
          <p:nvPr/>
        </p:nvSpPr>
        <p:spPr>
          <a:xfrm>
            <a:off x="9575705" y="2612223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2310716-ED50-7E34-476B-158AF4C45EB1}"/>
              </a:ext>
            </a:extLst>
          </p:cNvPr>
          <p:cNvSpPr/>
          <p:nvPr/>
        </p:nvSpPr>
        <p:spPr>
          <a:xfrm>
            <a:off x="9575705" y="3265073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933E10C-2E6D-DB96-2667-B41CE8DD36F1}"/>
              </a:ext>
            </a:extLst>
          </p:cNvPr>
          <p:cNvSpPr/>
          <p:nvPr/>
        </p:nvSpPr>
        <p:spPr>
          <a:xfrm>
            <a:off x="9575705" y="3899020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5B96D85-70A7-FA73-2417-164DD5C31279}"/>
              </a:ext>
            </a:extLst>
          </p:cNvPr>
          <p:cNvSpPr/>
          <p:nvPr/>
        </p:nvSpPr>
        <p:spPr>
          <a:xfrm>
            <a:off x="9575705" y="4500917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E5D7176-E38A-5F72-5E1B-78E0D143005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21756" y="2097622"/>
            <a:ext cx="2953162" cy="16194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A2FFF0A-AAA3-EDEF-3FCF-7B9BA9FF97F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26519" y="2777651"/>
            <a:ext cx="2943636" cy="11431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D6E5B95-8642-5B3C-41C1-984C666AAB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21756" y="3419821"/>
            <a:ext cx="2953162" cy="16194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77FC283B-2B5F-4D78-FEBB-FF5785EB18A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07467" y="4002744"/>
            <a:ext cx="2981741" cy="19052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EAB88DC-FE27-EFA0-1D28-42AFDCA1F13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6519" y="4670411"/>
            <a:ext cx="2943636" cy="14289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81E2CA8-8FE2-2D8E-A88A-11AE21A8A1F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66924" y="1833603"/>
            <a:ext cx="3548141" cy="3809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105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아이템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6328534"/>
            <a:ext cx="12192000" cy="529466"/>
          </a:xfrm>
          <a:prstGeom prst="rect">
            <a:avLst/>
          </a:prstGeom>
        </p:spPr>
      </p:pic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ADC02F6F-FAC8-572A-B8CD-977DE4CD2C9B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54328" y="2171353"/>
            <a:ext cx="4605549" cy="37088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180433A-CF02-72FE-2C0D-A068955B117E}"/>
              </a:ext>
            </a:extLst>
          </p:cNvPr>
          <p:cNvSpPr txBox="1"/>
          <p:nvPr/>
        </p:nvSpPr>
        <p:spPr>
          <a:xfrm>
            <a:off x="4582845" y="4317061"/>
            <a:ext cx="31760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빨간색</a:t>
            </a:r>
            <a:r>
              <a:rPr lang="en-US" altLang="ko-KR" dirty="0"/>
              <a:t>: </a:t>
            </a:r>
            <a:r>
              <a:rPr lang="ko-KR" altLang="en-US" dirty="0"/>
              <a:t>받침대로 아이템과 충돌발생시 </a:t>
            </a:r>
            <a:r>
              <a:rPr lang="en-US" altLang="ko-KR" dirty="0"/>
              <a:t>Life</a:t>
            </a:r>
            <a:r>
              <a:rPr lang="ko-KR" altLang="en-US" dirty="0"/>
              <a:t>를 </a:t>
            </a:r>
            <a:r>
              <a:rPr lang="en-US" altLang="ko-KR" dirty="0"/>
              <a:t>1 </a:t>
            </a:r>
            <a:r>
              <a:rPr lang="ko-KR" altLang="en-US" dirty="0"/>
              <a:t>회복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42EB31-E1F7-78FE-286E-59AA218088E6}"/>
              </a:ext>
            </a:extLst>
          </p:cNvPr>
          <p:cNvSpPr txBox="1"/>
          <p:nvPr/>
        </p:nvSpPr>
        <p:spPr>
          <a:xfrm>
            <a:off x="4595077" y="2881523"/>
            <a:ext cx="31760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00B0F0"/>
                </a:solidFill>
              </a:rPr>
              <a:t>파란색</a:t>
            </a:r>
            <a:r>
              <a:rPr lang="en-US" altLang="ko-KR" dirty="0"/>
              <a:t>: </a:t>
            </a:r>
            <a:r>
              <a:rPr lang="ko-KR" altLang="en-US" dirty="0"/>
              <a:t>받침대로 아이템과 충돌발생시 공의 위치를 초기상태로 되돌림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93372F-A805-3A02-3107-F6F66FC95146}"/>
              </a:ext>
            </a:extLst>
          </p:cNvPr>
          <p:cNvSpPr txBox="1"/>
          <p:nvPr/>
        </p:nvSpPr>
        <p:spPr>
          <a:xfrm>
            <a:off x="2732474" y="6364040"/>
            <a:ext cx="7184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벽돌이 파괴될 때 일정확률로 랜덤의 아이템을 습득할 수 있음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1A044A-3413-E120-DDA2-02C9BDBE01F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417" y="2163035"/>
            <a:ext cx="3953427" cy="3982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310373E-B6F0-91B3-C124-A1375E52D1E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1618" y="2090410"/>
            <a:ext cx="4001058" cy="3962953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95F1EF5-17C5-F386-1ADF-1C5AC21C5AC9}"/>
              </a:ext>
            </a:extLst>
          </p:cNvPr>
          <p:cNvSpPr/>
          <p:nvPr/>
        </p:nvSpPr>
        <p:spPr>
          <a:xfrm>
            <a:off x="1667751" y="4199946"/>
            <a:ext cx="647829" cy="59720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B202E5D-BC69-0AE9-1892-1724F7B8B147}"/>
              </a:ext>
            </a:extLst>
          </p:cNvPr>
          <p:cNvSpPr/>
          <p:nvPr/>
        </p:nvSpPr>
        <p:spPr>
          <a:xfrm>
            <a:off x="10848528" y="4227390"/>
            <a:ext cx="647829" cy="59720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60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옵션 </a:t>
              </a:r>
              <a:r>
                <a:rPr lang="ko-KR" altLang="en-US" sz="28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모달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491886"/>
            <a:ext cx="12192000" cy="3661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E39F3C-0033-83CF-9838-C9F8B1EC5110}"/>
              </a:ext>
            </a:extLst>
          </p:cNvPr>
          <p:cNvSpPr/>
          <p:nvPr/>
        </p:nvSpPr>
        <p:spPr>
          <a:xfrm>
            <a:off x="7380649" y="4028085"/>
            <a:ext cx="3304110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-ESC </a:t>
            </a:r>
            <a:r>
              <a:rPr lang="ko-KR" altLang="en-US" sz="20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입력시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모달창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이벤트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공의 속도 조절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재시작 기능    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EB441CC-7586-A8DE-B473-26E651716F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05719" y="2625789"/>
            <a:ext cx="5508575" cy="335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440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종료 </a:t>
              </a:r>
              <a:r>
                <a:rPr lang="ko-KR" altLang="en-US" sz="28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모달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491886"/>
            <a:ext cx="12192000" cy="3661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E39F3C-0033-83CF-9838-C9F8B1EC5110}"/>
              </a:ext>
            </a:extLst>
          </p:cNvPr>
          <p:cNvSpPr/>
          <p:nvPr/>
        </p:nvSpPr>
        <p:spPr>
          <a:xfrm>
            <a:off x="5561255" y="3438766"/>
            <a:ext cx="6630744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생명력이 </a:t>
            </a:r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0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이 되거나 </a:t>
            </a:r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스테이지에서 모든 블록을 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ko-KR" altLang="en-US" sz="20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부셨을때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출력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최종 점수와 내림차순으로 순위를 출력시켜 보여준다</a:t>
            </a:r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B96429F-9C58-0468-CC65-86E80053573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732" y="2041071"/>
            <a:ext cx="4986208" cy="4088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948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" y="-135396"/>
            <a:ext cx="12192000" cy="685800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E94AA3-A994-6AB2-870F-88DA16811E4D}"/>
              </a:ext>
            </a:extLst>
          </p:cNvPr>
          <p:cNvSpPr txBox="1"/>
          <p:nvPr/>
        </p:nvSpPr>
        <p:spPr>
          <a:xfrm>
            <a:off x="4223789" y="2708920"/>
            <a:ext cx="3744416" cy="67710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게임 시연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" y="-135396"/>
            <a:ext cx="12192000" cy="685800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E94AA3-A994-6AB2-870F-88DA16811E4D}"/>
              </a:ext>
            </a:extLst>
          </p:cNvPr>
          <p:cNvSpPr txBox="1"/>
          <p:nvPr/>
        </p:nvSpPr>
        <p:spPr>
          <a:xfrm>
            <a:off x="4223789" y="2708920"/>
            <a:ext cx="3744416" cy="1661993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Thank you!</a:t>
            </a:r>
            <a:endParaRPr lang="ko-KR" altLang="en-US" sz="4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7635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567</TotalTime>
  <Words>461</Words>
  <Application>Microsoft Office PowerPoint</Application>
  <PresentationFormat>와이드스크린</PresentationFormat>
  <Paragraphs>151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맑은 고딕</vt:lpstr>
      <vt:lpstr>맑은 고딕 Semilight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KGT</cp:lastModifiedBy>
  <cp:revision>91</cp:revision>
  <dcterms:created xsi:type="dcterms:W3CDTF">2023-12-20T03:00:25Z</dcterms:created>
  <dcterms:modified xsi:type="dcterms:W3CDTF">2024-07-21T02:52:47Z</dcterms:modified>
</cp:coreProperties>
</file>